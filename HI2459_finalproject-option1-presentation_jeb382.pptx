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9" r:id="rId1"/>
  </p:sldMasterIdLst>
  <p:notesMasterIdLst>
    <p:notesMasterId r:id="rId10"/>
  </p:notesMasterIdLst>
  <p:sldIdLst>
    <p:sldId id="256" r:id="rId2"/>
    <p:sldId id="257" r:id="rId3"/>
    <p:sldId id="258" r:id="rId4"/>
    <p:sldId id="259" r:id="rId5"/>
    <p:sldId id="261" r:id="rId6"/>
    <p:sldId id="266" r:id="rId7"/>
    <p:sldId id="264"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1298" autoAdjust="0"/>
  </p:normalViewPr>
  <p:slideViewPr>
    <p:cSldViewPr snapToGrid="0">
      <p:cViewPr varScale="1">
        <p:scale>
          <a:sx n="60" d="100"/>
          <a:sy n="60" d="100"/>
        </p:scale>
        <p:origin x="78" y="2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747DC1-F0BA-42A8-8500-CB5FF5885371}" type="datetimeFigureOut">
              <a:rPr lang="en-US" smtClean="0"/>
              <a:t>5/1/2026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C16608-1E71-45CD-90A6-9C0ACA5710DC}" type="slidenum">
              <a:rPr lang="en-US" smtClean="0"/>
              <a:t>‹#›</a:t>
            </a:fld>
            <a:endParaRPr lang="en-US"/>
          </a:p>
        </p:txBody>
      </p:sp>
    </p:spTree>
    <p:extLst>
      <p:ext uri="{BB962C8B-B14F-4D97-AF65-F5344CB8AC3E}">
        <p14:creationId xmlns:p14="http://schemas.microsoft.com/office/powerpoint/2010/main" val="5132672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t>
            </a:r>
            <a:r>
              <a:rPr lang="en-US" sz="1200" kern="1200" dirty="0">
                <a:solidFill>
                  <a:schemeClr val="tx1"/>
                </a:solidFill>
                <a:effectLst/>
                <a:latin typeface="+mn-lt"/>
                <a:ea typeface="+mn-ea"/>
                <a:cs typeface="+mn-cs"/>
              </a:rPr>
              <a:t>Knee osteoarthritis is a very common degenerative joint disease, caused by the cartilage in your knee joints breaking down and causing the bones to rub together. </a:t>
            </a:r>
            <a:r>
              <a:rPr lang="en-US" sz="1200" kern="1200" dirty="0" err="1">
                <a:solidFill>
                  <a:schemeClr val="tx1"/>
                </a:solidFill>
                <a:effectLst/>
                <a:latin typeface="+mn-lt"/>
                <a:ea typeface="+mn-ea"/>
                <a:cs typeface="+mn-cs"/>
              </a:rPr>
              <a:t>Causeing</a:t>
            </a:r>
            <a:r>
              <a:rPr lang="en-US" sz="1200" kern="1200" dirty="0">
                <a:solidFill>
                  <a:schemeClr val="tx1"/>
                </a:solidFill>
                <a:effectLst/>
                <a:latin typeface="+mn-lt"/>
                <a:ea typeface="+mn-ea"/>
                <a:cs typeface="+mn-cs"/>
              </a:rPr>
              <a:t> pain, swelling, and stiffness.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It affects roughly 23% of adults over 40 worldwide, impacting 365 million people.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It is diagnosed by a medical professional evaluating a radiograph of the knee. And Medical professionals are very busy and the evaluation of radiographs are a prime target to use with automated AI tools to decrease the amount of time it takes a medical professional to make their diagnosis. And that’s the purpose of this study is to evaluate how we can do that.</a:t>
            </a:r>
            <a:endParaRPr lang="en-US" dirty="0"/>
          </a:p>
        </p:txBody>
      </p:sp>
      <p:sp>
        <p:nvSpPr>
          <p:cNvPr id="4" name="Slide Number Placeholder 3"/>
          <p:cNvSpPr>
            <a:spLocks noGrp="1"/>
          </p:cNvSpPr>
          <p:nvPr>
            <p:ph type="sldNum" sz="quarter" idx="5"/>
          </p:nvPr>
        </p:nvSpPr>
        <p:spPr/>
        <p:txBody>
          <a:bodyPr/>
          <a:lstStyle/>
          <a:p>
            <a:fld id="{D7C16608-1E71-45CD-90A6-9C0ACA5710DC}" type="slidenum">
              <a:rPr lang="en-US" smtClean="0"/>
              <a:t>2</a:t>
            </a:fld>
            <a:endParaRPr lang="en-US"/>
          </a:p>
        </p:txBody>
      </p:sp>
    </p:spTree>
    <p:extLst>
      <p:ext uri="{BB962C8B-B14F-4D97-AF65-F5344CB8AC3E}">
        <p14:creationId xmlns:p14="http://schemas.microsoft.com/office/powerpoint/2010/main" val="2979760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a:t>
            </a:r>
            <a:r>
              <a:rPr lang="en-US" sz="1200" kern="1200" dirty="0">
                <a:solidFill>
                  <a:schemeClr val="tx1"/>
                </a:solidFill>
                <a:effectLst/>
                <a:latin typeface="+mn-lt"/>
                <a:ea typeface="+mn-ea"/>
                <a:cs typeface="+mn-cs"/>
              </a:rPr>
              <a:t>overall model structure where DinoV2[1], or rather ViT, is used as a backbone to extract features from out input images. These features are then given to an MLP as a classification head for a binary label decided by a threshold of 0.5 on the confidence percentage that the input image shows Knee Osteoarthritis.</a:t>
            </a:r>
            <a:endParaRPr lang="en-US" dirty="0"/>
          </a:p>
        </p:txBody>
      </p:sp>
      <p:sp>
        <p:nvSpPr>
          <p:cNvPr id="4" name="Slide Number Placeholder 3"/>
          <p:cNvSpPr>
            <a:spLocks noGrp="1"/>
          </p:cNvSpPr>
          <p:nvPr>
            <p:ph type="sldNum" sz="quarter" idx="5"/>
          </p:nvPr>
        </p:nvSpPr>
        <p:spPr/>
        <p:txBody>
          <a:bodyPr/>
          <a:lstStyle/>
          <a:p>
            <a:fld id="{D7C16608-1E71-45CD-90A6-9C0ACA5710DC}" type="slidenum">
              <a:rPr lang="en-US" smtClean="0"/>
              <a:t>3</a:t>
            </a:fld>
            <a:endParaRPr lang="en-US"/>
          </a:p>
        </p:txBody>
      </p:sp>
    </p:spTree>
    <p:extLst>
      <p:ext uri="{BB962C8B-B14F-4D97-AF65-F5344CB8AC3E}">
        <p14:creationId xmlns:p14="http://schemas.microsoft.com/office/powerpoint/2010/main" val="8975854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experiments were run on CUDA on my personal Pc for </a:t>
            </a:r>
            <a:r>
              <a:rPr lang="en-US" dirty="0" err="1"/>
              <a:t>convience</a:t>
            </a:r>
            <a:r>
              <a:rPr lang="en-US" dirty="0"/>
              <a:t> reasons.</a:t>
            </a:r>
          </a:p>
          <a:p>
            <a:endParaRPr lang="en-US" dirty="0"/>
          </a:p>
          <a:p>
            <a:r>
              <a:rPr lang="en-US" sz="1200" kern="1200" dirty="0">
                <a:solidFill>
                  <a:schemeClr val="tx1"/>
                </a:solidFill>
                <a:effectLst/>
                <a:latin typeface="+mn-lt"/>
                <a:ea typeface="+mn-ea"/>
                <a:cs typeface="+mn-cs"/>
              </a:rPr>
              <a:t>It utilized the Cross Entropy Loss function and was optimized with Adam.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Metrics used for evaluation was AUC, accuracy, marco-f1, and for both classes: precision, recall, and f1-score. There was also a generated Confusion Matrix, Loss curve, and ROC-AUC curve.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And fore the learning rate, we separately found for frozen and finetuning the best rate through a stepped approach.</a:t>
            </a:r>
            <a:endParaRPr lang="en-US" dirty="0"/>
          </a:p>
        </p:txBody>
      </p:sp>
      <p:sp>
        <p:nvSpPr>
          <p:cNvPr id="4" name="Slide Number Placeholder 3"/>
          <p:cNvSpPr>
            <a:spLocks noGrp="1"/>
          </p:cNvSpPr>
          <p:nvPr>
            <p:ph type="sldNum" sz="quarter" idx="5"/>
          </p:nvPr>
        </p:nvSpPr>
        <p:spPr/>
        <p:txBody>
          <a:bodyPr/>
          <a:lstStyle/>
          <a:p>
            <a:fld id="{D7C16608-1E71-45CD-90A6-9C0ACA5710DC}" type="slidenum">
              <a:rPr lang="en-US" smtClean="0"/>
              <a:t>4</a:t>
            </a:fld>
            <a:endParaRPr lang="en-US"/>
          </a:p>
        </p:txBody>
      </p:sp>
    </p:spTree>
    <p:extLst>
      <p:ext uri="{BB962C8B-B14F-4D97-AF65-F5344CB8AC3E}">
        <p14:creationId xmlns:p14="http://schemas.microsoft.com/office/powerpoint/2010/main" val="30965807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these are our results:</a:t>
            </a:r>
          </a:p>
          <a:p>
            <a:r>
              <a:rPr lang="en-US" sz="1200" kern="1200" dirty="0">
                <a:solidFill>
                  <a:schemeClr val="tx1"/>
                </a:solidFill>
                <a:effectLst/>
                <a:latin typeface="+mn-lt"/>
                <a:ea typeface="+mn-ea"/>
                <a:cs typeface="+mn-cs"/>
              </a:rPr>
              <a:t>As the amount of data increases, so does the performance. This is because as the model gets more and more data, it is introduced to new cases it hasn’t seen before and becomes more generalizable to said data. With smaller amounts of data there is also the possibility of overfitting to a bias present in your small sample that will affect your performance to unseen data.</a:t>
            </a:r>
            <a:endParaRPr lang="en-US" dirty="0"/>
          </a:p>
        </p:txBody>
      </p:sp>
      <p:sp>
        <p:nvSpPr>
          <p:cNvPr id="4" name="Slide Number Placeholder 3"/>
          <p:cNvSpPr>
            <a:spLocks noGrp="1"/>
          </p:cNvSpPr>
          <p:nvPr>
            <p:ph type="sldNum" sz="quarter" idx="5"/>
          </p:nvPr>
        </p:nvSpPr>
        <p:spPr/>
        <p:txBody>
          <a:bodyPr/>
          <a:lstStyle/>
          <a:p>
            <a:fld id="{D7C16608-1E71-45CD-90A6-9C0ACA5710DC}" type="slidenum">
              <a:rPr lang="en-US" smtClean="0"/>
              <a:t>5</a:t>
            </a:fld>
            <a:endParaRPr lang="en-US"/>
          </a:p>
        </p:txBody>
      </p:sp>
    </p:spTree>
    <p:extLst>
      <p:ext uri="{BB962C8B-B14F-4D97-AF65-F5344CB8AC3E}">
        <p14:creationId xmlns:p14="http://schemas.microsoft.com/office/powerpoint/2010/main" val="402485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comparing specifically frozen vs finetuning DinoV2: here are our best models for each for an easier comparison.</a:t>
            </a:r>
          </a:p>
          <a:p>
            <a:endParaRPr lang="en-US" dirty="0"/>
          </a:p>
          <a:p>
            <a:r>
              <a:rPr lang="en-US" sz="1200" kern="1200" dirty="0">
                <a:solidFill>
                  <a:schemeClr val="tx1"/>
                </a:solidFill>
                <a:effectLst/>
                <a:latin typeface="+mn-lt"/>
                <a:ea typeface="+mn-ea"/>
                <a:cs typeface="+mn-cs"/>
              </a:rPr>
              <a:t>Models with a frozen DinoV2 backbone were better compared to models that did finetuning. Although the performance can be considered comparable in many metrics, especially when there isn’t much to improve with such high scores, frozen always lead to a higher AUC. This can also be seen in their ROC graphs, where the curve for frozen is almost a right angle, while the finetuning is not as lucky. Also in the confusion matrixes where frozen has an almost perfect alignment, while finetuning has a very poor false positive rate.</a:t>
            </a:r>
            <a:endParaRPr lang="en-US" dirty="0"/>
          </a:p>
        </p:txBody>
      </p:sp>
      <p:sp>
        <p:nvSpPr>
          <p:cNvPr id="4" name="Slide Number Placeholder 3"/>
          <p:cNvSpPr>
            <a:spLocks noGrp="1"/>
          </p:cNvSpPr>
          <p:nvPr>
            <p:ph type="sldNum" sz="quarter" idx="5"/>
          </p:nvPr>
        </p:nvSpPr>
        <p:spPr/>
        <p:txBody>
          <a:bodyPr/>
          <a:lstStyle/>
          <a:p>
            <a:fld id="{D7C16608-1E71-45CD-90A6-9C0ACA5710DC}" type="slidenum">
              <a:rPr lang="en-US" smtClean="0"/>
              <a:t>6</a:t>
            </a:fld>
            <a:endParaRPr lang="en-US"/>
          </a:p>
        </p:txBody>
      </p:sp>
    </p:spTree>
    <p:extLst>
      <p:ext uri="{BB962C8B-B14F-4D97-AF65-F5344CB8AC3E}">
        <p14:creationId xmlns:p14="http://schemas.microsoft.com/office/powerpoint/2010/main" val="13916615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 this study we developed a model to evaluate the likelihood of knee osteoarthritis in radiographs using the DinoV2 model. Our results shows that as the amount of data increases, so does the performance and generalizability of our model. We were also able to evaluate the effects of finetuning or freezing the DinoV2 model and were able to achieve an extremely high level of performance.</a:t>
            </a:r>
            <a:endParaRPr lang="en-US" dirty="0"/>
          </a:p>
        </p:txBody>
      </p:sp>
      <p:sp>
        <p:nvSpPr>
          <p:cNvPr id="4" name="Slide Number Placeholder 3"/>
          <p:cNvSpPr>
            <a:spLocks noGrp="1"/>
          </p:cNvSpPr>
          <p:nvPr>
            <p:ph type="sldNum" sz="quarter" idx="5"/>
          </p:nvPr>
        </p:nvSpPr>
        <p:spPr/>
        <p:txBody>
          <a:bodyPr/>
          <a:lstStyle/>
          <a:p>
            <a:fld id="{D7C16608-1E71-45CD-90A6-9C0ACA5710DC}" type="slidenum">
              <a:rPr lang="en-US" smtClean="0"/>
              <a:t>7</a:t>
            </a:fld>
            <a:endParaRPr lang="en-US"/>
          </a:p>
        </p:txBody>
      </p:sp>
    </p:spTree>
    <p:extLst>
      <p:ext uri="{BB962C8B-B14F-4D97-AF65-F5344CB8AC3E}">
        <p14:creationId xmlns:p14="http://schemas.microsoft.com/office/powerpoint/2010/main" val="3426462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the end of my presentation!</a:t>
            </a:r>
          </a:p>
        </p:txBody>
      </p:sp>
      <p:sp>
        <p:nvSpPr>
          <p:cNvPr id="4" name="Slide Number Placeholder 3"/>
          <p:cNvSpPr>
            <a:spLocks noGrp="1"/>
          </p:cNvSpPr>
          <p:nvPr>
            <p:ph type="sldNum" sz="quarter" idx="5"/>
          </p:nvPr>
        </p:nvSpPr>
        <p:spPr/>
        <p:txBody>
          <a:bodyPr/>
          <a:lstStyle/>
          <a:p>
            <a:fld id="{D7C16608-1E71-45CD-90A6-9C0ACA5710DC}" type="slidenum">
              <a:rPr lang="en-US" smtClean="0"/>
              <a:t>8</a:t>
            </a:fld>
            <a:endParaRPr lang="en-US"/>
          </a:p>
        </p:txBody>
      </p:sp>
    </p:spTree>
    <p:extLst>
      <p:ext uri="{BB962C8B-B14F-4D97-AF65-F5344CB8AC3E}">
        <p14:creationId xmlns:p14="http://schemas.microsoft.com/office/powerpoint/2010/main" val="29730979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21D90-DCCC-BAA8-2D91-1E27B9A3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9D33CE-A028-0EC9-49B3-E92D8EC7A4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D40D6F6-0A1B-45D5-F2B1-4652FDEB2171}"/>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5" name="Footer Placeholder 4">
            <a:extLst>
              <a:ext uri="{FF2B5EF4-FFF2-40B4-BE49-F238E27FC236}">
                <a16:creationId xmlns:a16="http://schemas.microsoft.com/office/drawing/2014/main" id="{DE2EBE07-4B45-8EF6-4C09-72E667F27A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849B99-A1CC-5EFF-6614-D3D4799A4FCA}"/>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29886940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7B5D26-C11A-B934-7673-A779E28F7F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55B9A35-9A7C-3233-CA23-EF53F82726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77B2A1-5485-E611-6EFD-F51791135384}"/>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5" name="Footer Placeholder 4">
            <a:extLst>
              <a:ext uri="{FF2B5EF4-FFF2-40B4-BE49-F238E27FC236}">
                <a16:creationId xmlns:a16="http://schemas.microsoft.com/office/drawing/2014/main" id="{3DC5D52B-5BF2-82AF-D313-7DD1D11D91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CCE068-7171-412D-57BF-44AAF307BBE0}"/>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869023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C2542-9FDA-6D6B-D47E-0DDA348513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6F4D72-5EFD-B43A-9932-9B8F90FB1D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D762BC-FD82-FF7E-E165-BEC1C698281F}"/>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5" name="Footer Placeholder 4">
            <a:extLst>
              <a:ext uri="{FF2B5EF4-FFF2-40B4-BE49-F238E27FC236}">
                <a16:creationId xmlns:a16="http://schemas.microsoft.com/office/drawing/2014/main" id="{086F4B9A-F770-4F73-2BF7-C6F8A584CD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E8B207-BCFD-1FF6-CFF0-F5B4F81E4E65}"/>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3390412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0866C-5E71-68AE-0A43-6E78B0A7ECF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75663F-E2BE-F42C-0769-0819950C41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EBE451-BAC3-77D4-E9D6-D506D3518D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B02DE28-4638-DAE1-017B-ABAE8522771B}"/>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6" name="Footer Placeholder 5">
            <a:extLst>
              <a:ext uri="{FF2B5EF4-FFF2-40B4-BE49-F238E27FC236}">
                <a16:creationId xmlns:a16="http://schemas.microsoft.com/office/drawing/2014/main" id="{7D0E380C-FCAF-E006-A680-318BB3830D6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7C5411-F9F0-5570-8D2F-90CF63219F72}"/>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21348982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C7982-5B1A-8EF0-ABC9-1E8ADE6571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C795EAA-5F5D-785B-2935-EF3D4458E5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A2F789-BC2B-8E5F-DDC0-E4E40E877B2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6016B06-B1DB-344B-0830-2DABDE9AF8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7834CF9-F280-B478-0FCC-DF58F6BFE9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85F00D9-415B-C829-14C4-92690D764523}"/>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8" name="Footer Placeholder 7">
            <a:extLst>
              <a:ext uri="{FF2B5EF4-FFF2-40B4-BE49-F238E27FC236}">
                <a16:creationId xmlns:a16="http://schemas.microsoft.com/office/drawing/2014/main" id="{DB9ADECF-A892-6A88-809F-BD00879F00E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397252-5042-0773-051C-CA0D78D20738}"/>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8962369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2DB60-B4D2-9512-AD46-59D875C4FCD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1444C9-29DD-00E9-7BEB-E639680CB311}"/>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4" name="Footer Placeholder 3">
            <a:extLst>
              <a:ext uri="{FF2B5EF4-FFF2-40B4-BE49-F238E27FC236}">
                <a16:creationId xmlns:a16="http://schemas.microsoft.com/office/drawing/2014/main" id="{5033F175-AC94-3424-865D-7D4B8905A38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F2A379-A350-C853-C2C9-92BB9DCDA84A}"/>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16932491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744C9D-2CEF-BA88-C1EB-EE53B6309CAC}"/>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3" name="Footer Placeholder 2">
            <a:extLst>
              <a:ext uri="{FF2B5EF4-FFF2-40B4-BE49-F238E27FC236}">
                <a16:creationId xmlns:a16="http://schemas.microsoft.com/office/drawing/2014/main" id="{057AF285-ED87-C118-CF5F-7ACD2A5696D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107CA8-2E7D-3CBA-0D46-4A61BFA61C61}"/>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3954871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F86BA-1CDC-4807-50F5-71AEEB60A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9E806E-50E0-3447-9865-3EFF7197C59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E54EA0E-51D9-3DC2-FE14-546B00C657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01FAD8-5EF4-0E02-E4C2-DC976E0C6C31}"/>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6" name="Footer Placeholder 5">
            <a:extLst>
              <a:ext uri="{FF2B5EF4-FFF2-40B4-BE49-F238E27FC236}">
                <a16:creationId xmlns:a16="http://schemas.microsoft.com/office/drawing/2014/main" id="{78A317B6-EC40-87EF-1685-F6C665E54C0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6709BA-C660-C4B7-4B69-9E42CBFB6535}"/>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799628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AF38A-5DDE-1ED9-041A-DF90B95376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821A51B-FD00-A922-9332-D7F2DFFF4AB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A4C8E1-45CE-2C73-B4E3-2441F95215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877784-C85A-99E7-91EE-34B249B3B273}"/>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6" name="Footer Placeholder 5">
            <a:extLst>
              <a:ext uri="{FF2B5EF4-FFF2-40B4-BE49-F238E27FC236}">
                <a16:creationId xmlns:a16="http://schemas.microsoft.com/office/drawing/2014/main" id="{EF463E5B-7447-7387-3B54-D57786C6BF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19B437-DCB9-3A57-1E22-84EE1D3C1F48}"/>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1575784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F75BF-800D-75C6-4676-5F80B3DAB22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9867432-4E28-FC3B-938F-B5C2B1FEEF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67AE03-A513-67FA-205D-E5736371EDC7}"/>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5" name="Footer Placeholder 4">
            <a:extLst>
              <a:ext uri="{FF2B5EF4-FFF2-40B4-BE49-F238E27FC236}">
                <a16:creationId xmlns:a16="http://schemas.microsoft.com/office/drawing/2014/main" id="{6B879708-C1A9-39D6-8B56-7E28061E4C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B76839-D343-FF8E-5FEC-4AFAA05A21CB}"/>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2884022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CAE7A8-1FED-5C29-453D-912ED042B98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8FE1DF-8070-CA89-5812-87A89B0D41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0282FF-5F96-0ECD-E73F-433BDE4A8718}"/>
              </a:ext>
            </a:extLst>
          </p:cNvPr>
          <p:cNvSpPr>
            <a:spLocks noGrp="1"/>
          </p:cNvSpPr>
          <p:nvPr>
            <p:ph type="dt" sz="half" idx="10"/>
          </p:nvPr>
        </p:nvSpPr>
        <p:spPr/>
        <p:txBody>
          <a:bodyPr/>
          <a:lstStyle/>
          <a:p>
            <a:fld id="{B2D9B2E1-A34B-4C89-BCC1-B08DA521E153}" type="datetimeFigureOut">
              <a:rPr lang="en-US" smtClean="0"/>
              <a:t>5/1/2026</a:t>
            </a:fld>
            <a:endParaRPr lang="en-US"/>
          </a:p>
        </p:txBody>
      </p:sp>
      <p:sp>
        <p:nvSpPr>
          <p:cNvPr id="5" name="Footer Placeholder 4">
            <a:extLst>
              <a:ext uri="{FF2B5EF4-FFF2-40B4-BE49-F238E27FC236}">
                <a16:creationId xmlns:a16="http://schemas.microsoft.com/office/drawing/2014/main" id="{2D975990-8A28-2ED1-F880-DF86B348DD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E02802-55C7-28B5-3FF7-9450C79DBCB1}"/>
              </a:ext>
            </a:extLst>
          </p:cNvPr>
          <p:cNvSpPr>
            <a:spLocks noGrp="1"/>
          </p:cNvSpPr>
          <p:nvPr>
            <p:ph type="sldNum" sz="quarter" idx="12"/>
          </p:nvPr>
        </p:nvSpPr>
        <p:spPr/>
        <p:txBody>
          <a:bodyPr/>
          <a:lstStyle/>
          <a:p>
            <a:fld id="{02E8D537-F108-4AC9-846B-1253A50D0C24}" type="slidenum">
              <a:rPr lang="en-US" smtClean="0"/>
              <a:t>‹#›</a:t>
            </a:fld>
            <a:endParaRPr lang="en-US"/>
          </a:p>
        </p:txBody>
      </p:sp>
    </p:spTree>
    <p:extLst>
      <p:ext uri="{BB962C8B-B14F-4D97-AF65-F5344CB8AC3E}">
        <p14:creationId xmlns:p14="http://schemas.microsoft.com/office/powerpoint/2010/main" val="2754779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646B66B-8D7F-C18D-9D2E-2275314D6C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CB5840-EE07-D558-CD72-5619ADAF31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848462-3DF5-B642-D002-A2F4A089CD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D9B2E1-A34B-4C89-BCC1-B08DA521E153}" type="datetimeFigureOut">
              <a:rPr lang="en-US" smtClean="0"/>
              <a:t>5/1/2026</a:t>
            </a:fld>
            <a:endParaRPr lang="en-US"/>
          </a:p>
        </p:txBody>
      </p:sp>
      <p:sp>
        <p:nvSpPr>
          <p:cNvPr id="5" name="Footer Placeholder 4">
            <a:extLst>
              <a:ext uri="{FF2B5EF4-FFF2-40B4-BE49-F238E27FC236}">
                <a16:creationId xmlns:a16="http://schemas.microsoft.com/office/drawing/2014/main" id="{0B2A783C-1B50-F884-1F29-9A7F6C9EBCA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E8DA988-1717-E388-53D9-61AC1BAEFA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E8D537-F108-4AC9-846B-1253A50D0C24}" type="slidenum">
              <a:rPr lang="en-US" smtClean="0"/>
              <a:t>‹#›</a:t>
            </a:fld>
            <a:endParaRPr lang="en-US"/>
          </a:p>
        </p:txBody>
      </p:sp>
    </p:spTree>
    <p:extLst>
      <p:ext uri="{BB962C8B-B14F-4D97-AF65-F5344CB8AC3E}">
        <p14:creationId xmlns:p14="http://schemas.microsoft.com/office/powerpoint/2010/main" val="3049262780"/>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24D37-FEFA-09A0-C7B8-E149D16197CD}"/>
              </a:ext>
            </a:extLst>
          </p:cNvPr>
          <p:cNvSpPr>
            <a:spLocks noGrp="1"/>
          </p:cNvSpPr>
          <p:nvPr>
            <p:ph type="ctrTitle"/>
          </p:nvPr>
        </p:nvSpPr>
        <p:spPr/>
        <p:txBody>
          <a:bodyPr>
            <a:normAutofit fontScale="90000"/>
          </a:bodyPr>
          <a:lstStyle/>
          <a:p>
            <a:r>
              <a:rPr lang="en-US" dirty="0"/>
              <a:t>Adaptation of Vision Foundation Models for Knee Osteoarthritis Classification</a:t>
            </a:r>
          </a:p>
        </p:txBody>
      </p:sp>
      <p:sp>
        <p:nvSpPr>
          <p:cNvPr id="3" name="Subtitle 2">
            <a:extLst>
              <a:ext uri="{FF2B5EF4-FFF2-40B4-BE49-F238E27FC236}">
                <a16:creationId xmlns:a16="http://schemas.microsoft.com/office/drawing/2014/main" id="{4518CBF7-AF65-AF6C-C809-B9C30B5F22E5}"/>
              </a:ext>
            </a:extLst>
          </p:cNvPr>
          <p:cNvSpPr>
            <a:spLocks noGrp="1"/>
          </p:cNvSpPr>
          <p:nvPr>
            <p:ph type="subTitle" idx="1"/>
          </p:nvPr>
        </p:nvSpPr>
        <p:spPr/>
        <p:txBody>
          <a:bodyPr/>
          <a:lstStyle/>
          <a:p>
            <a:r>
              <a:rPr lang="en-US" dirty="0"/>
              <a:t>Jonah Belback</a:t>
            </a:r>
          </a:p>
        </p:txBody>
      </p:sp>
    </p:spTree>
    <p:extLst>
      <p:ext uri="{BB962C8B-B14F-4D97-AF65-F5344CB8AC3E}">
        <p14:creationId xmlns:p14="http://schemas.microsoft.com/office/powerpoint/2010/main" val="2590747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940F8-47B4-BACA-645A-0109B55DBE43}"/>
              </a:ext>
            </a:extLst>
          </p:cNvPr>
          <p:cNvSpPr>
            <a:spLocks noGrp="1"/>
          </p:cNvSpPr>
          <p:nvPr>
            <p:ph type="title"/>
          </p:nvPr>
        </p:nvSpPr>
        <p:spPr/>
        <p:txBody>
          <a:bodyPr/>
          <a:lstStyle/>
          <a:p>
            <a:r>
              <a:rPr lang="en-US" dirty="0"/>
              <a:t>Purpose</a:t>
            </a:r>
          </a:p>
        </p:txBody>
      </p:sp>
      <p:sp>
        <p:nvSpPr>
          <p:cNvPr id="3" name="Content Placeholder 2">
            <a:extLst>
              <a:ext uri="{FF2B5EF4-FFF2-40B4-BE49-F238E27FC236}">
                <a16:creationId xmlns:a16="http://schemas.microsoft.com/office/drawing/2014/main" id="{FB495672-F4B9-FFC7-47D3-2F17E24AA1BE}"/>
              </a:ext>
            </a:extLst>
          </p:cNvPr>
          <p:cNvSpPr>
            <a:spLocks noGrp="1"/>
          </p:cNvSpPr>
          <p:nvPr>
            <p:ph idx="1"/>
          </p:nvPr>
        </p:nvSpPr>
        <p:spPr/>
        <p:txBody>
          <a:bodyPr/>
          <a:lstStyle/>
          <a:p>
            <a:r>
              <a:rPr lang="en-US" dirty="0"/>
              <a:t>Knee osteoarthritis is a very common degenerative joint disease</a:t>
            </a:r>
          </a:p>
          <a:p>
            <a:pPr lvl="1"/>
            <a:r>
              <a:rPr lang="en-US" dirty="0"/>
              <a:t>Pain, swelling, stiffness</a:t>
            </a:r>
          </a:p>
          <a:p>
            <a:r>
              <a:rPr lang="en-US" dirty="0"/>
              <a:t>Affects roughly 23% of adults over 40 worldwide</a:t>
            </a:r>
          </a:p>
          <a:p>
            <a:pPr lvl="1"/>
            <a:r>
              <a:rPr lang="en-US" dirty="0"/>
              <a:t>365 million people</a:t>
            </a:r>
          </a:p>
          <a:p>
            <a:r>
              <a:rPr lang="en-US" dirty="0"/>
              <a:t>Medical Professionals are busy!!!</a:t>
            </a:r>
          </a:p>
          <a:p>
            <a:pPr lvl="1"/>
            <a:r>
              <a:rPr lang="en-US" dirty="0"/>
              <a:t>Too many patients, not enough doctors</a:t>
            </a:r>
          </a:p>
          <a:p>
            <a:pPr lvl="1"/>
            <a:r>
              <a:rPr lang="en-US" dirty="0"/>
              <a:t>Diagnostics done with imaging (radiographs) can be aided easily by AI tools</a:t>
            </a:r>
          </a:p>
          <a:p>
            <a:pPr lvl="2"/>
            <a:r>
              <a:rPr lang="en-US" dirty="0"/>
              <a:t>Save medical professional’s time</a:t>
            </a:r>
          </a:p>
        </p:txBody>
      </p:sp>
    </p:spTree>
    <p:extLst>
      <p:ext uri="{BB962C8B-B14F-4D97-AF65-F5344CB8AC3E}">
        <p14:creationId xmlns:p14="http://schemas.microsoft.com/office/powerpoint/2010/main" val="2946263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7AEDE-1898-6BAC-81BA-5DE4204F6B9C}"/>
              </a:ext>
            </a:extLst>
          </p:cNvPr>
          <p:cNvSpPr>
            <a:spLocks noGrp="1"/>
          </p:cNvSpPr>
          <p:nvPr>
            <p:ph type="title"/>
          </p:nvPr>
        </p:nvSpPr>
        <p:spPr/>
        <p:txBody>
          <a:bodyPr/>
          <a:lstStyle/>
          <a:p>
            <a:r>
              <a:rPr lang="en-US" dirty="0"/>
              <a:t>Architecture</a:t>
            </a:r>
          </a:p>
        </p:txBody>
      </p:sp>
      <p:pic>
        <p:nvPicPr>
          <p:cNvPr id="4" name="Picture 3">
            <a:extLst>
              <a:ext uri="{FF2B5EF4-FFF2-40B4-BE49-F238E27FC236}">
                <a16:creationId xmlns:a16="http://schemas.microsoft.com/office/drawing/2014/main" id="{A3957F1D-CBF3-2862-FD0E-833262530C7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4734" y="1690688"/>
            <a:ext cx="11642532" cy="3571123"/>
          </a:xfrm>
          <a:prstGeom prst="rect">
            <a:avLst/>
          </a:prstGeom>
        </p:spPr>
      </p:pic>
    </p:spTree>
    <p:extLst>
      <p:ext uri="{BB962C8B-B14F-4D97-AF65-F5344CB8AC3E}">
        <p14:creationId xmlns:p14="http://schemas.microsoft.com/office/powerpoint/2010/main" val="104461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B1650-C867-4266-7BE3-B50BBA17B41A}"/>
              </a:ext>
            </a:extLst>
          </p:cNvPr>
          <p:cNvSpPr>
            <a:spLocks noGrp="1"/>
          </p:cNvSpPr>
          <p:nvPr>
            <p:ph type="title"/>
          </p:nvPr>
        </p:nvSpPr>
        <p:spPr/>
        <p:txBody>
          <a:bodyPr/>
          <a:lstStyle/>
          <a:p>
            <a:r>
              <a:rPr lang="en-US" dirty="0"/>
              <a:t>Experimental Setup</a:t>
            </a:r>
          </a:p>
        </p:txBody>
      </p:sp>
      <p:sp>
        <p:nvSpPr>
          <p:cNvPr id="3" name="Content Placeholder 2">
            <a:extLst>
              <a:ext uri="{FF2B5EF4-FFF2-40B4-BE49-F238E27FC236}">
                <a16:creationId xmlns:a16="http://schemas.microsoft.com/office/drawing/2014/main" id="{F2EDC5B0-8963-E593-19DE-C8928D16E10D}"/>
              </a:ext>
            </a:extLst>
          </p:cNvPr>
          <p:cNvSpPr>
            <a:spLocks noGrp="1"/>
          </p:cNvSpPr>
          <p:nvPr>
            <p:ph idx="1"/>
          </p:nvPr>
        </p:nvSpPr>
        <p:spPr>
          <a:xfrm>
            <a:off x="838200" y="1363579"/>
            <a:ext cx="10515600" cy="5129296"/>
          </a:xfrm>
        </p:spPr>
        <p:txBody>
          <a:bodyPr>
            <a:normAutofit/>
          </a:bodyPr>
          <a:lstStyle/>
          <a:p>
            <a:r>
              <a:rPr lang="en-US" dirty="0"/>
              <a:t>Ran on CUDA on personal PC</a:t>
            </a:r>
          </a:p>
          <a:p>
            <a:r>
              <a:rPr lang="en-US" dirty="0"/>
              <a:t>Cross Entropy Loss Function</a:t>
            </a:r>
          </a:p>
          <a:p>
            <a:r>
              <a:rPr lang="en-US" dirty="0"/>
              <a:t>Optimized with Adam</a:t>
            </a:r>
          </a:p>
          <a:p>
            <a:r>
              <a:rPr lang="en-US" dirty="0"/>
              <a:t>For both frozen, and finetuning: found best learning rate</a:t>
            </a:r>
          </a:p>
          <a:p>
            <a:pPr lvl="1"/>
            <a:r>
              <a:rPr lang="en-US" dirty="0"/>
              <a:t>15 epochs, from 1e-1 to 1e-7 by steps of 0.1</a:t>
            </a:r>
          </a:p>
          <a:p>
            <a:pPr lvl="1"/>
            <a:r>
              <a:rPr lang="en-US" dirty="0"/>
              <a:t>Used 70% training, 15% validation, 15% evaluation</a:t>
            </a:r>
          </a:p>
          <a:p>
            <a:pPr lvl="1"/>
            <a:r>
              <a:rPr lang="en-US" dirty="0"/>
              <a:t>Found 1e-6 was best for frozen, 1e-5 best for finetuning</a:t>
            </a:r>
          </a:p>
          <a:p>
            <a:pPr lvl="2"/>
            <a:r>
              <a:rPr lang="en-US" dirty="0"/>
              <a:t>Full table on paper, not super important to showcase</a:t>
            </a:r>
          </a:p>
        </p:txBody>
      </p:sp>
    </p:spTree>
    <p:extLst>
      <p:ext uri="{BB962C8B-B14F-4D97-AF65-F5344CB8AC3E}">
        <p14:creationId xmlns:p14="http://schemas.microsoft.com/office/powerpoint/2010/main" val="1468377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E8752-98CF-FE63-BC8D-36F16B29DA93}"/>
              </a:ext>
            </a:extLst>
          </p:cNvPr>
          <p:cNvSpPr>
            <a:spLocks noGrp="1"/>
          </p:cNvSpPr>
          <p:nvPr>
            <p:ph type="title"/>
          </p:nvPr>
        </p:nvSpPr>
        <p:spPr/>
        <p:txBody>
          <a:bodyPr/>
          <a:lstStyle/>
          <a:p>
            <a:r>
              <a:rPr lang="en-US" dirty="0"/>
              <a:t>Results – Changes on amount of training data</a:t>
            </a:r>
          </a:p>
        </p:txBody>
      </p:sp>
      <p:pic>
        <p:nvPicPr>
          <p:cNvPr id="5" name="Picture 4">
            <a:extLst>
              <a:ext uri="{FF2B5EF4-FFF2-40B4-BE49-F238E27FC236}">
                <a16:creationId xmlns:a16="http://schemas.microsoft.com/office/drawing/2014/main" id="{76695D40-77E6-991D-9022-64F3FEC43F5A}"/>
              </a:ext>
            </a:extLst>
          </p:cNvPr>
          <p:cNvPicPr>
            <a:picLocks noChangeAspect="1"/>
          </p:cNvPicPr>
          <p:nvPr/>
        </p:nvPicPr>
        <p:blipFill>
          <a:blip r:embed="rId3"/>
          <a:stretch>
            <a:fillRect/>
          </a:stretch>
        </p:blipFill>
        <p:spPr>
          <a:xfrm>
            <a:off x="1321281" y="1622315"/>
            <a:ext cx="9549437" cy="4537853"/>
          </a:xfrm>
          <a:prstGeom prst="rect">
            <a:avLst/>
          </a:prstGeom>
        </p:spPr>
      </p:pic>
    </p:spTree>
    <p:extLst>
      <p:ext uri="{BB962C8B-B14F-4D97-AF65-F5344CB8AC3E}">
        <p14:creationId xmlns:p14="http://schemas.microsoft.com/office/powerpoint/2010/main" val="42926822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23067-D7DA-4869-F4A5-607CE8A9C5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9342E6-B797-DE94-4962-E2AEA991EC01}"/>
              </a:ext>
            </a:extLst>
          </p:cNvPr>
          <p:cNvSpPr>
            <a:spLocks noGrp="1"/>
          </p:cNvSpPr>
          <p:nvPr>
            <p:ph type="title"/>
          </p:nvPr>
        </p:nvSpPr>
        <p:spPr/>
        <p:txBody>
          <a:bodyPr/>
          <a:lstStyle/>
          <a:p>
            <a:r>
              <a:rPr lang="en-US" dirty="0"/>
              <a:t>Results – Frozen DinoV2 vs Finetuning</a:t>
            </a:r>
          </a:p>
        </p:txBody>
      </p:sp>
      <p:pic>
        <p:nvPicPr>
          <p:cNvPr id="11" name="Picture 10">
            <a:extLst>
              <a:ext uri="{FF2B5EF4-FFF2-40B4-BE49-F238E27FC236}">
                <a16:creationId xmlns:a16="http://schemas.microsoft.com/office/drawing/2014/main" id="{591E6DFE-08B2-2C54-1A9D-4FC7AC88B6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3261" y="3782629"/>
            <a:ext cx="5619907" cy="2256020"/>
          </a:xfrm>
          <a:prstGeom prst="rect">
            <a:avLst/>
          </a:prstGeom>
        </p:spPr>
      </p:pic>
      <p:pic>
        <p:nvPicPr>
          <p:cNvPr id="13" name="Picture 12">
            <a:extLst>
              <a:ext uri="{FF2B5EF4-FFF2-40B4-BE49-F238E27FC236}">
                <a16:creationId xmlns:a16="http://schemas.microsoft.com/office/drawing/2014/main" id="{676DFE42-962A-47A4-5DAE-4D4A36C151A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8833" y="3782629"/>
            <a:ext cx="5604800" cy="2256020"/>
          </a:xfrm>
          <a:prstGeom prst="rect">
            <a:avLst/>
          </a:prstGeom>
        </p:spPr>
      </p:pic>
      <p:sp>
        <p:nvSpPr>
          <p:cNvPr id="15" name="TextBox 14">
            <a:extLst>
              <a:ext uri="{FF2B5EF4-FFF2-40B4-BE49-F238E27FC236}">
                <a16:creationId xmlns:a16="http://schemas.microsoft.com/office/drawing/2014/main" id="{54EF0626-E097-B61E-C566-B92F8EB479A5}"/>
              </a:ext>
            </a:extLst>
          </p:cNvPr>
          <p:cNvSpPr txBox="1"/>
          <p:nvPr/>
        </p:nvSpPr>
        <p:spPr>
          <a:xfrm>
            <a:off x="253261" y="6038649"/>
            <a:ext cx="5619907" cy="369332"/>
          </a:xfrm>
          <a:prstGeom prst="rect">
            <a:avLst/>
          </a:prstGeom>
          <a:noFill/>
        </p:spPr>
        <p:txBody>
          <a:bodyPr wrap="square">
            <a:spAutoFit/>
          </a:bodyPr>
          <a:lstStyle/>
          <a:p>
            <a:pPr algn="ctr"/>
            <a:r>
              <a:rPr lang="en-US" dirty="0"/>
              <a:t>Best Frozen Model</a:t>
            </a:r>
          </a:p>
        </p:txBody>
      </p:sp>
      <p:sp>
        <p:nvSpPr>
          <p:cNvPr id="16" name="TextBox 15">
            <a:extLst>
              <a:ext uri="{FF2B5EF4-FFF2-40B4-BE49-F238E27FC236}">
                <a16:creationId xmlns:a16="http://schemas.microsoft.com/office/drawing/2014/main" id="{C15F8B23-E0EC-43D1-EBD7-22BAB8365BBF}"/>
              </a:ext>
            </a:extLst>
          </p:cNvPr>
          <p:cNvSpPr txBox="1"/>
          <p:nvPr/>
        </p:nvSpPr>
        <p:spPr>
          <a:xfrm>
            <a:off x="6318833" y="6051537"/>
            <a:ext cx="5619906" cy="369332"/>
          </a:xfrm>
          <a:prstGeom prst="rect">
            <a:avLst/>
          </a:prstGeom>
          <a:noFill/>
        </p:spPr>
        <p:txBody>
          <a:bodyPr wrap="square">
            <a:spAutoFit/>
          </a:bodyPr>
          <a:lstStyle/>
          <a:p>
            <a:pPr algn="ctr"/>
            <a:r>
              <a:rPr lang="en-US" dirty="0"/>
              <a:t>Best Finetuning Model</a:t>
            </a:r>
          </a:p>
        </p:txBody>
      </p:sp>
      <p:graphicFrame>
        <p:nvGraphicFramePr>
          <p:cNvPr id="17" name="Table 16">
            <a:extLst>
              <a:ext uri="{FF2B5EF4-FFF2-40B4-BE49-F238E27FC236}">
                <a16:creationId xmlns:a16="http://schemas.microsoft.com/office/drawing/2014/main" id="{9321F772-31E4-97BA-42FF-742FF281E289}"/>
              </a:ext>
            </a:extLst>
          </p:cNvPr>
          <p:cNvGraphicFramePr>
            <a:graphicFrameLocks noGrp="1"/>
          </p:cNvGraphicFramePr>
          <p:nvPr>
            <p:extLst>
              <p:ext uri="{D42A27DB-BD31-4B8C-83A1-F6EECF244321}">
                <p14:modId xmlns:p14="http://schemas.microsoft.com/office/powerpoint/2010/main" val="3773503700"/>
              </p:ext>
            </p:extLst>
          </p:nvPr>
        </p:nvGraphicFramePr>
        <p:xfrm>
          <a:off x="1061145" y="1588596"/>
          <a:ext cx="10069710" cy="1868807"/>
        </p:xfrm>
        <a:graphic>
          <a:graphicData uri="http://schemas.openxmlformats.org/drawingml/2006/table">
            <a:tbl>
              <a:tblPr firstRow="1" firstCol="1" bandRow="1">
                <a:tableStyleId>{5C22544A-7EE6-4342-B048-85BDC9FD1C3A}</a:tableStyleId>
              </a:tblPr>
              <a:tblGrid>
                <a:gridCol w="1223931">
                  <a:extLst>
                    <a:ext uri="{9D8B030D-6E8A-4147-A177-3AD203B41FA5}">
                      <a16:colId xmlns:a16="http://schemas.microsoft.com/office/drawing/2014/main" val="4218525575"/>
                    </a:ext>
                  </a:extLst>
                </a:gridCol>
                <a:gridCol w="1223931">
                  <a:extLst>
                    <a:ext uri="{9D8B030D-6E8A-4147-A177-3AD203B41FA5}">
                      <a16:colId xmlns:a16="http://schemas.microsoft.com/office/drawing/2014/main" val="58355443"/>
                    </a:ext>
                  </a:extLst>
                </a:gridCol>
                <a:gridCol w="1223931">
                  <a:extLst>
                    <a:ext uri="{9D8B030D-6E8A-4147-A177-3AD203B41FA5}">
                      <a16:colId xmlns:a16="http://schemas.microsoft.com/office/drawing/2014/main" val="581652170"/>
                    </a:ext>
                  </a:extLst>
                </a:gridCol>
                <a:gridCol w="1041911">
                  <a:extLst>
                    <a:ext uri="{9D8B030D-6E8A-4147-A177-3AD203B41FA5}">
                      <a16:colId xmlns:a16="http://schemas.microsoft.com/office/drawing/2014/main" val="3892957383"/>
                    </a:ext>
                  </a:extLst>
                </a:gridCol>
                <a:gridCol w="893365">
                  <a:extLst>
                    <a:ext uri="{9D8B030D-6E8A-4147-A177-3AD203B41FA5}">
                      <a16:colId xmlns:a16="http://schemas.microsoft.com/office/drawing/2014/main" val="3381658872"/>
                    </a:ext>
                  </a:extLst>
                </a:gridCol>
                <a:gridCol w="893365">
                  <a:extLst>
                    <a:ext uri="{9D8B030D-6E8A-4147-A177-3AD203B41FA5}">
                      <a16:colId xmlns:a16="http://schemas.microsoft.com/office/drawing/2014/main" val="4337830"/>
                    </a:ext>
                  </a:extLst>
                </a:gridCol>
                <a:gridCol w="893365">
                  <a:extLst>
                    <a:ext uri="{9D8B030D-6E8A-4147-A177-3AD203B41FA5}">
                      <a16:colId xmlns:a16="http://schemas.microsoft.com/office/drawing/2014/main" val="209986830"/>
                    </a:ext>
                  </a:extLst>
                </a:gridCol>
                <a:gridCol w="893365">
                  <a:extLst>
                    <a:ext uri="{9D8B030D-6E8A-4147-A177-3AD203B41FA5}">
                      <a16:colId xmlns:a16="http://schemas.microsoft.com/office/drawing/2014/main" val="2330618315"/>
                    </a:ext>
                  </a:extLst>
                </a:gridCol>
                <a:gridCol w="891273">
                  <a:extLst>
                    <a:ext uri="{9D8B030D-6E8A-4147-A177-3AD203B41FA5}">
                      <a16:colId xmlns:a16="http://schemas.microsoft.com/office/drawing/2014/main" val="3185851852"/>
                    </a:ext>
                  </a:extLst>
                </a:gridCol>
                <a:gridCol w="891273">
                  <a:extLst>
                    <a:ext uri="{9D8B030D-6E8A-4147-A177-3AD203B41FA5}">
                      <a16:colId xmlns:a16="http://schemas.microsoft.com/office/drawing/2014/main" val="3467853065"/>
                    </a:ext>
                  </a:extLst>
                </a:gridCol>
              </a:tblGrid>
              <a:tr h="276125">
                <a:tc rowSpan="2">
                  <a:txBody>
                    <a:bodyPr/>
                    <a:lstStyle/>
                    <a:p>
                      <a:pPr marL="0" marR="0" algn="ctr">
                        <a:lnSpc>
                          <a:spcPct val="115000"/>
                        </a:lnSpc>
                        <a:spcAft>
                          <a:spcPts val="800"/>
                        </a:spcAft>
                        <a:buNone/>
                      </a:pPr>
                      <a:endParaRPr lang="en-US"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rowSpan="2">
                  <a:txBody>
                    <a:bodyPr/>
                    <a:lstStyle/>
                    <a:p>
                      <a:pPr marL="0" marR="0" algn="ctr">
                        <a:lnSpc>
                          <a:spcPct val="115000"/>
                        </a:lnSpc>
                        <a:spcAft>
                          <a:spcPts val="800"/>
                        </a:spcAft>
                        <a:buNone/>
                      </a:pPr>
                      <a:r>
                        <a:rPr lang="en-US" sz="1700" kern="100" dirty="0">
                          <a:effectLst/>
                        </a:rPr>
                        <a:t>AUC</a:t>
                      </a:r>
                      <a:endParaRPr lang="en-US"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rowSpan="2">
                  <a:txBody>
                    <a:bodyPr/>
                    <a:lstStyle/>
                    <a:p>
                      <a:pPr marL="0" marR="0" algn="ctr">
                        <a:lnSpc>
                          <a:spcPct val="115000"/>
                        </a:lnSpc>
                        <a:spcAft>
                          <a:spcPts val="800"/>
                        </a:spcAft>
                        <a:buNone/>
                      </a:pPr>
                      <a:r>
                        <a:rPr lang="en-US" sz="1700" kern="100" dirty="0">
                          <a:effectLst/>
                        </a:rPr>
                        <a:t>Accuracy</a:t>
                      </a:r>
                      <a:endParaRPr lang="en-US"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rowSpan="2">
                  <a:txBody>
                    <a:bodyPr/>
                    <a:lstStyle/>
                    <a:p>
                      <a:pPr marL="0" marR="0" algn="ctr">
                        <a:lnSpc>
                          <a:spcPct val="115000"/>
                        </a:lnSpc>
                        <a:spcAft>
                          <a:spcPts val="800"/>
                        </a:spcAft>
                        <a:buNone/>
                      </a:pPr>
                      <a:r>
                        <a:rPr lang="en-US" sz="1700" kern="100">
                          <a:effectLst/>
                        </a:rPr>
                        <a:t>Macro-F1</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gridSpan="2">
                  <a:txBody>
                    <a:bodyPr/>
                    <a:lstStyle/>
                    <a:p>
                      <a:pPr marL="0" marR="0" algn="ctr">
                        <a:lnSpc>
                          <a:spcPct val="115000"/>
                        </a:lnSpc>
                        <a:spcAft>
                          <a:spcPts val="800"/>
                        </a:spcAft>
                        <a:buNone/>
                      </a:pPr>
                      <a:r>
                        <a:rPr lang="en-US" sz="1700" kern="100">
                          <a:effectLst/>
                        </a:rPr>
                        <a:t>Precision</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hMerge="1">
                  <a:txBody>
                    <a:bodyPr/>
                    <a:lstStyle/>
                    <a:p>
                      <a:endParaRPr lang="en-US"/>
                    </a:p>
                  </a:txBody>
                  <a:tcPr/>
                </a:tc>
                <a:tc gridSpan="2">
                  <a:txBody>
                    <a:bodyPr/>
                    <a:lstStyle/>
                    <a:p>
                      <a:pPr marL="0" marR="0" algn="ctr">
                        <a:lnSpc>
                          <a:spcPct val="115000"/>
                        </a:lnSpc>
                        <a:spcAft>
                          <a:spcPts val="800"/>
                        </a:spcAft>
                        <a:buNone/>
                      </a:pPr>
                      <a:r>
                        <a:rPr lang="en-US" sz="1700" kern="100">
                          <a:effectLst/>
                        </a:rPr>
                        <a:t>Recall</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hMerge="1">
                  <a:txBody>
                    <a:bodyPr/>
                    <a:lstStyle/>
                    <a:p>
                      <a:endParaRPr lang="en-US"/>
                    </a:p>
                  </a:txBody>
                  <a:tcPr/>
                </a:tc>
                <a:tc gridSpan="2">
                  <a:txBody>
                    <a:bodyPr/>
                    <a:lstStyle/>
                    <a:p>
                      <a:pPr marL="0" marR="0" algn="ctr">
                        <a:lnSpc>
                          <a:spcPct val="115000"/>
                        </a:lnSpc>
                        <a:spcAft>
                          <a:spcPts val="800"/>
                        </a:spcAft>
                        <a:buNone/>
                      </a:pPr>
                      <a:r>
                        <a:rPr lang="en-US" sz="1700" kern="100">
                          <a:effectLst/>
                        </a:rPr>
                        <a:t>F1-score</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51532" marR="151532" marT="75766" marB="75766" anchor="ctr"/>
                </a:tc>
                <a:tc hMerge="1">
                  <a:txBody>
                    <a:bodyPr/>
                    <a:lstStyle/>
                    <a:p>
                      <a:endParaRPr lang="en-US"/>
                    </a:p>
                  </a:txBody>
                  <a:tcPr/>
                </a:tc>
                <a:extLst>
                  <a:ext uri="{0D108BD9-81ED-4DB2-BD59-A6C34878D82A}">
                    <a16:rowId xmlns:a16="http://schemas.microsoft.com/office/drawing/2014/main" val="852428074"/>
                  </a:ext>
                </a:extLst>
              </a:tr>
              <a:tr h="339895">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marL="0" marR="0" algn="ctr">
                        <a:lnSpc>
                          <a:spcPct val="115000"/>
                        </a:lnSpc>
                        <a:spcAft>
                          <a:spcPts val="800"/>
                        </a:spcAft>
                        <a:buNone/>
                      </a:pPr>
                      <a:r>
                        <a:rPr lang="en-US" sz="1000" kern="100">
                          <a:effectLst/>
                        </a:rPr>
                        <a:t>Knee OA</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13649" marR="113649" marT="0" marB="0" anchor="ctr"/>
                </a:tc>
                <a:tc>
                  <a:txBody>
                    <a:bodyPr/>
                    <a:lstStyle/>
                    <a:p>
                      <a:pPr marL="0" marR="0" algn="ctr">
                        <a:lnSpc>
                          <a:spcPct val="115000"/>
                        </a:lnSpc>
                        <a:spcAft>
                          <a:spcPts val="800"/>
                        </a:spcAft>
                        <a:buNone/>
                      </a:pPr>
                      <a:r>
                        <a:rPr lang="en-US" sz="1000" kern="100">
                          <a:effectLst/>
                        </a:rPr>
                        <a:t>No Knee OA</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13649" marR="113649" marT="0" marB="0" anchor="ctr"/>
                </a:tc>
                <a:tc>
                  <a:txBody>
                    <a:bodyPr/>
                    <a:lstStyle/>
                    <a:p>
                      <a:pPr marL="0" marR="0" algn="ctr">
                        <a:lnSpc>
                          <a:spcPct val="115000"/>
                        </a:lnSpc>
                        <a:spcAft>
                          <a:spcPts val="800"/>
                        </a:spcAft>
                        <a:buNone/>
                      </a:pPr>
                      <a:r>
                        <a:rPr lang="en-US" sz="1000" kern="100">
                          <a:effectLst/>
                        </a:rPr>
                        <a:t>Knee OA</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13649" marR="113649" marT="0" marB="0" anchor="ctr"/>
                </a:tc>
                <a:tc>
                  <a:txBody>
                    <a:bodyPr/>
                    <a:lstStyle/>
                    <a:p>
                      <a:pPr marL="0" marR="0" algn="ctr">
                        <a:lnSpc>
                          <a:spcPct val="115000"/>
                        </a:lnSpc>
                        <a:spcAft>
                          <a:spcPts val="800"/>
                        </a:spcAft>
                        <a:buNone/>
                      </a:pPr>
                      <a:r>
                        <a:rPr lang="en-US" sz="1000" kern="100">
                          <a:effectLst/>
                        </a:rPr>
                        <a:t>No Knee OA</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13649" marR="113649" marT="0" marB="0" anchor="ctr"/>
                </a:tc>
                <a:tc>
                  <a:txBody>
                    <a:bodyPr/>
                    <a:lstStyle/>
                    <a:p>
                      <a:pPr marL="0" marR="0" algn="ctr">
                        <a:lnSpc>
                          <a:spcPct val="115000"/>
                        </a:lnSpc>
                        <a:spcAft>
                          <a:spcPts val="800"/>
                        </a:spcAft>
                        <a:buNone/>
                      </a:pPr>
                      <a:r>
                        <a:rPr lang="en-US" sz="1000" kern="100">
                          <a:effectLst/>
                        </a:rPr>
                        <a:t>Knee OA</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13649" marR="113649" marT="0" marB="0" anchor="ctr"/>
                </a:tc>
                <a:tc>
                  <a:txBody>
                    <a:bodyPr/>
                    <a:lstStyle/>
                    <a:p>
                      <a:pPr marL="0" marR="0" algn="ctr">
                        <a:lnSpc>
                          <a:spcPct val="115000"/>
                        </a:lnSpc>
                        <a:spcAft>
                          <a:spcPts val="800"/>
                        </a:spcAft>
                        <a:buNone/>
                      </a:pPr>
                      <a:r>
                        <a:rPr lang="en-US" sz="1000" kern="100">
                          <a:effectLst/>
                        </a:rPr>
                        <a:t>No Knee OA</a:t>
                      </a:r>
                      <a:endParaRPr lang="en-US" sz="2000" kern="100">
                        <a:effectLst/>
                        <a:latin typeface="Aptos" panose="020B0004020202020204" pitchFamily="34" charset="0"/>
                        <a:ea typeface="Aptos" panose="020B0004020202020204" pitchFamily="34" charset="0"/>
                        <a:cs typeface="Times New Roman" panose="02020603050405020304" pitchFamily="18" charset="0"/>
                      </a:endParaRPr>
                    </a:p>
                  </a:txBody>
                  <a:tcPr marL="113649" marR="113649" marT="0" marB="0" anchor="ctr"/>
                </a:tc>
                <a:extLst>
                  <a:ext uri="{0D108BD9-81ED-4DB2-BD59-A6C34878D82A}">
                    <a16:rowId xmlns:a16="http://schemas.microsoft.com/office/drawing/2014/main" val="3816933735"/>
                  </a:ext>
                </a:extLst>
              </a:tr>
              <a:tr h="276125">
                <a:tc>
                  <a:txBody>
                    <a:bodyPr/>
                    <a:lstStyle/>
                    <a:p>
                      <a:pPr marL="0" marR="0" algn="ctr">
                        <a:lnSpc>
                          <a:spcPct val="115000"/>
                        </a:lnSpc>
                        <a:spcAft>
                          <a:spcPts val="800"/>
                        </a:spcAft>
                        <a:buNone/>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Best Frozen</a:t>
                      </a:r>
                    </a:p>
                  </a:txBody>
                  <a:tcPr marL="113649" marR="113649"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0.989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0.990</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0.98</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1.00</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5612415"/>
                  </a:ext>
                </a:extLst>
              </a:tr>
              <a:tr h="458806">
                <a:tc>
                  <a:txBody>
                    <a:bodyPr/>
                    <a:lstStyle/>
                    <a:p>
                      <a:pPr marL="0" marR="0" algn="ctr">
                        <a:lnSpc>
                          <a:spcPct val="115000"/>
                        </a:lnSpc>
                        <a:spcAft>
                          <a:spcPts val="800"/>
                        </a:spcAft>
                        <a:buNone/>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Best Finetuned</a:t>
                      </a:r>
                    </a:p>
                  </a:txBody>
                  <a:tcPr marL="113649" marR="113649" marT="0" marB="0" anchor="ctr"/>
                </a:tc>
                <a:tc>
                  <a:txBody>
                    <a:bodyPr/>
                    <a:lstStyle/>
                    <a:p>
                      <a:pPr marL="0" marR="0" algn="ctr">
                        <a:lnSpc>
                          <a:spcPct val="115000"/>
                        </a:lnSpc>
                        <a:spcAft>
                          <a:spcPts val="800"/>
                        </a:spcAft>
                        <a:buNone/>
                      </a:pPr>
                      <a:r>
                        <a:rPr lang="en-US" sz="2000" b="0" kern="100">
                          <a:effectLst/>
                          <a:latin typeface="Arial" panose="020B0604020202020204" pitchFamily="34" charset="0"/>
                          <a:ea typeface="Aptos" panose="020B0004020202020204" pitchFamily="34" charset="0"/>
                          <a:cs typeface="Times New Roman" panose="02020603050405020304" pitchFamily="18" charset="0"/>
                        </a:rPr>
                        <a:t>0.985</a:t>
                      </a:r>
                      <a:endParaRPr lang="en-US" sz="2000" b="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0" kern="100">
                          <a:effectLst/>
                          <a:latin typeface="Arial" panose="020B0604020202020204" pitchFamily="34" charset="0"/>
                          <a:ea typeface="Aptos" panose="020B0004020202020204" pitchFamily="34" charset="0"/>
                          <a:cs typeface="Times New Roman" panose="02020603050405020304" pitchFamily="18" charset="0"/>
                        </a:rPr>
                        <a:t>0.985</a:t>
                      </a:r>
                      <a:endParaRPr lang="en-US" sz="2000" b="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0" kern="100">
                          <a:effectLst/>
                          <a:latin typeface="Arial" panose="020B0604020202020204" pitchFamily="34" charset="0"/>
                          <a:ea typeface="Aptos" panose="020B0004020202020204" pitchFamily="34" charset="0"/>
                          <a:cs typeface="Times New Roman" panose="02020603050405020304" pitchFamily="18" charset="0"/>
                        </a:rPr>
                        <a:t>0.98</a:t>
                      </a:r>
                      <a:endParaRPr lang="en-US" sz="2000" b="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0.98</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0"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0" kern="100" dirty="0">
                          <a:effectLst/>
                          <a:latin typeface="Arial" panose="020B0604020202020204" pitchFamily="34" charset="0"/>
                          <a:ea typeface="Aptos" panose="020B0004020202020204" pitchFamily="34" charset="0"/>
                          <a:cs typeface="Times New Roman" panose="02020603050405020304" pitchFamily="18" charset="0"/>
                        </a:rPr>
                        <a:t>0.98</a:t>
                      </a:r>
                      <a:endParaRPr lang="en-US" sz="20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marL="0" marR="0" algn="ctr">
                        <a:lnSpc>
                          <a:spcPct val="115000"/>
                        </a:lnSpc>
                        <a:spcAft>
                          <a:spcPts val="800"/>
                        </a:spcAft>
                        <a:buNone/>
                      </a:pPr>
                      <a:r>
                        <a:rPr lang="en-US" sz="2000" b="1" kern="100" dirty="0">
                          <a:effectLst/>
                          <a:latin typeface="Arial" panose="020B0604020202020204" pitchFamily="34" charset="0"/>
                          <a:ea typeface="Aptos" panose="020B0004020202020204" pitchFamily="34" charset="0"/>
                          <a:cs typeface="Times New Roman" panose="02020603050405020304" pitchFamily="18" charset="0"/>
                        </a:rPr>
                        <a:t>0.99</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95397816"/>
                  </a:ext>
                </a:extLst>
              </a:tr>
            </a:tbl>
          </a:graphicData>
        </a:graphic>
      </p:graphicFrame>
    </p:spTree>
    <p:extLst>
      <p:ext uri="{BB962C8B-B14F-4D97-AF65-F5344CB8AC3E}">
        <p14:creationId xmlns:p14="http://schemas.microsoft.com/office/powerpoint/2010/main" val="2351910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2AEE6-241C-71A9-02E0-9F442F1F9841}"/>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1B05D83F-F5EE-C965-1C13-97A22F2866AB}"/>
              </a:ext>
            </a:extLst>
          </p:cNvPr>
          <p:cNvSpPr>
            <a:spLocks noGrp="1"/>
          </p:cNvSpPr>
          <p:nvPr>
            <p:ph idx="1"/>
          </p:nvPr>
        </p:nvSpPr>
        <p:spPr/>
        <p:txBody>
          <a:bodyPr/>
          <a:lstStyle/>
          <a:p>
            <a:r>
              <a:rPr lang="en-US" dirty="0"/>
              <a:t>Evaluated likelihood of knee osteoarthritis in radiographs using DinoV2</a:t>
            </a:r>
          </a:p>
          <a:p>
            <a:pPr lvl="1"/>
            <a:r>
              <a:rPr lang="en-US" dirty="0"/>
              <a:t>Captured changes in frozen vs finetuning backbone</a:t>
            </a:r>
          </a:p>
          <a:p>
            <a:pPr lvl="1"/>
            <a:r>
              <a:rPr lang="en-US" dirty="0"/>
              <a:t>Captured how model performance increases with amount of data</a:t>
            </a:r>
          </a:p>
          <a:p>
            <a:pPr lvl="1"/>
            <a:r>
              <a:rPr lang="en-US" dirty="0"/>
              <a:t>Obtained a model with a very high level of performance</a:t>
            </a:r>
          </a:p>
        </p:txBody>
      </p:sp>
    </p:spTree>
    <p:extLst>
      <p:ext uri="{BB962C8B-B14F-4D97-AF65-F5344CB8AC3E}">
        <p14:creationId xmlns:p14="http://schemas.microsoft.com/office/powerpoint/2010/main" val="2542129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C6D43-864B-597A-06E7-F4CB27DEB6B9}"/>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FD2F129D-B2DA-EA8B-0C9F-41CB9EA9FB72}"/>
              </a:ext>
            </a:extLst>
          </p:cNvPr>
          <p:cNvSpPr>
            <a:spLocks noGrp="1"/>
          </p:cNvSpPr>
          <p:nvPr>
            <p:ph idx="1"/>
          </p:nvPr>
        </p:nvSpPr>
        <p:spPr/>
        <p:txBody>
          <a:bodyPr/>
          <a:lstStyle/>
          <a:p>
            <a:pPr marL="0" indent="0">
              <a:buNone/>
            </a:pPr>
            <a:r>
              <a:rPr lang="en-US" dirty="0"/>
              <a:t>[1] </a:t>
            </a:r>
            <a:r>
              <a:rPr lang="en-US" sz="2000" dirty="0" err="1"/>
              <a:t>Oquab</a:t>
            </a:r>
            <a:r>
              <a:rPr lang="en-US" sz="2000" dirty="0"/>
              <a:t>, M., </a:t>
            </a:r>
            <a:r>
              <a:rPr lang="en-US" sz="2000" dirty="0" err="1"/>
              <a:t>Darcet</a:t>
            </a:r>
            <a:r>
              <a:rPr lang="en-US" sz="2000" dirty="0"/>
              <a:t>, T., </a:t>
            </a:r>
            <a:r>
              <a:rPr lang="en-US" sz="2000" dirty="0" err="1"/>
              <a:t>Moutakanni</a:t>
            </a:r>
            <a:r>
              <a:rPr lang="en-US" sz="2000" dirty="0"/>
              <a:t>, T., Vo, H., Szafraniec, M., Khalidov, V., Fernandez, P., Haziza, D., Massa, F., El-</a:t>
            </a:r>
            <a:r>
              <a:rPr lang="en-US" sz="2000" dirty="0" err="1"/>
              <a:t>Nouby</a:t>
            </a:r>
            <a:r>
              <a:rPr lang="en-US" sz="2000" dirty="0"/>
              <a:t>, A., </a:t>
            </a:r>
            <a:r>
              <a:rPr lang="en-US" sz="2000" dirty="0" err="1"/>
              <a:t>Assran</a:t>
            </a:r>
            <a:r>
              <a:rPr lang="en-US" sz="2000" dirty="0"/>
              <a:t>, M., Ballas, N., </a:t>
            </a:r>
            <a:r>
              <a:rPr lang="en-US" sz="2000" dirty="0" err="1"/>
              <a:t>Galuba</a:t>
            </a:r>
            <a:r>
              <a:rPr lang="en-US" sz="2000" dirty="0"/>
              <a:t>, W., Howes, R., Huang, P.-Y., Li, S.-W., Misra, I., Rabbat, M., Sharma, V., &amp; </a:t>
            </a:r>
            <a:r>
              <a:rPr lang="en-US" sz="2000" dirty="0" err="1"/>
              <a:t>Synnaeve</a:t>
            </a:r>
            <a:r>
              <a:rPr lang="en-US" sz="2000" dirty="0"/>
              <a:t>, G. (2023, April 14). </a:t>
            </a:r>
            <a:r>
              <a:rPr lang="en-US" sz="2000" i="1" dirty="0"/>
              <a:t>DINOv2: Learning Robust Visual Features without Supervision</a:t>
            </a:r>
            <a:r>
              <a:rPr lang="en-US" sz="2000" dirty="0"/>
              <a:t>. ArXiv.org. https://doi.org/10.48550/arXiv.2304.07193</a:t>
            </a:r>
            <a:endParaRPr lang="en-US" dirty="0"/>
          </a:p>
        </p:txBody>
      </p:sp>
    </p:spTree>
    <p:extLst>
      <p:ext uri="{BB962C8B-B14F-4D97-AF65-F5344CB8AC3E}">
        <p14:creationId xmlns:p14="http://schemas.microsoft.com/office/powerpoint/2010/main" val="8674424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64</TotalTime>
  <Words>905</Words>
  <Application>Microsoft Office PowerPoint</Application>
  <PresentationFormat>Widescreen</PresentationFormat>
  <Paragraphs>91</Paragraphs>
  <Slides>8</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Adaptation of Vision Foundation Models for Knee Osteoarthritis Classification</vt:lpstr>
      <vt:lpstr>Purpose</vt:lpstr>
      <vt:lpstr>Architecture</vt:lpstr>
      <vt:lpstr>Experimental Setup</vt:lpstr>
      <vt:lpstr>Results – Changes on amount of training data</vt:lpstr>
      <vt:lpstr>Results – Frozen DinoV2 vs Finetuning</vt:lpstr>
      <vt:lpstr>Discussion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Belback, Jonah Earl</dc:creator>
  <cp:lastModifiedBy>Belback, Jonah Earl</cp:lastModifiedBy>
  <cp:revision>18</cp:revision>
  <dcterms:created xsi:type="dcterms:W3CDTF">2026-05-01T14:27:43Z</dcterms:created>
  <dcterms:modified xsi:type="dcterms:W3CDTF">2026-05-02T02:55:34Z</dcterms:modified>
</cp:coreProperties>
</file>