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1D90-DCCC-BAA8-2D91-1E27B9A35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D33CE-A028-0EC9-49B3-E92D8EC7A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0D6F6-0A1B-45D5-F2B1-4652FDEB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EBE07-4B45-8EF6-4C09-72E667F2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49B99-A1CC-5EFF-6614-D3D4799A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9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5D26-C11A-B934-7673-A779E28F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B9A35-9A7C-3233-CA23-EF53F8272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7B2A1-5485-E611-6EFD-F5179113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5D52B-5BF2-82AF-D313-7DD1D11D9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E068-7171-412D-57BF-44AAF307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2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2542-9FDA-6D6B-D47E-0DDA3485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F4D72-5EFD-B43A-9932-9B8F90FB1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762BC-FD82-FF7E-E165-BEC1C6982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F4B9A-F770-4F73-2BF7-C6F8A584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8B207-BCFD-1FF6-CFF0-F5B4F81E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1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866C-5E71-68AE-0A43-6E78B0A7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663F-E2BE-F42C-0769-0819950C4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BE451-BAC3-77D4-E9D6-D506D3518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2DE28-4638-DAE1-017B-ABAE8522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E380C-FCAF-E006-A680-318BB383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C5411-F9F0-5570-8D2F-90CF6321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9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7982-5B1A-8EF0-ABC9-1E8ADE65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95EAA-5F5D-785B-2935-EF3D4458E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2F789-BC2B-8E5F-DDC0-E4E40E877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16B06-B1DB-344B-0830-2DABDE9AF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34CF9-F280-B478-0FCC-DF58F6BFE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5F00D9-415B-C829-14C4-92690D76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ADECF-A892-6A88-809F-BD00879F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397252-5042-0773-051C-CA0D78D2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36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DB60-B4D2-9512-AD46-59D875C4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1444C9-29DD-00E9-7BEB-E639680C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3F175-AC94-3424-865D-7D4B8905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2A379-A350-C853-C2C9-92BB9DCD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4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44C9D-2CEF-BA88-C1EB-EE53B630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AF285-ED87-C118-CF5F-7ACD2A56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07CA8-2E7D-3CBA-0D46-4A61BFA6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7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86BA-1CDC-4807-50F5-71AEEB60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806E-50E0-3447-9865-3EFF7197C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4EA0E-51D9-3DC2-FE14-546B00C65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1FAD8-5EF4-0E02-E4C2-DC976E0C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317B6-EC40-87EF-1685-F6C665E5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709BA-C660-C4B7-4B69-9E42CBFB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F38A-5DDE-1ED9-041A-DF90B953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1A51B-FD00-A922-9332-D7F2DFFF4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4C8E1-45CE-2C73-B4E3-2441F9521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77784-C85A-99E7-91EE-34B249B3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63E5B-7447-7387-3B54-D57786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9B437-DCB9-3A57-1E22-84EE1D3C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8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F75BF-800D-75C6-4676-5F80B3DA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67432-4E28-FC3B-938F-B5C2B1FEE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7AE03-A513-67FA-205D-E5736371E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79708-C1A9-39D6-8B56-7E28061E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76839-D343-FF8E-5FEC-4AFAA05A2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2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AE7A8-1FED-5C29-453D-912ED042B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FE1DF-8070-CA89-5812-87A89B0D4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282FF-5F96-0ECD-E73F-433BDE4A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75990-8A28-2ED1-F880-DF86B348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02802-55C7-28B5-3FF7-9450C79DB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7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6B66B-8D7F-C18D-9D2E-2275314D6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B5840-EE07-D558-CD72-5619ADAF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48462-3DF5-B642-D002-A2F4A089C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9B2E1-A34B-4C89-BCC1-B08DA521E15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A783C-1B50-F884-1F29-9A7F6C9EB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DA988-1717-E388-53D9-61AC1BAEF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8D537-F108-4AC9-846B-1253A50D0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6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4D37-FEFA-09A0-C7B8-E149D16197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Adaptation of Vision Foundation Models for Knee Osteoarthritis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8CBF7-AF65-AF6C-C809-B9C30B5F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Jonah Belback</a:t>
            </a:r>
          </a:p>
        </p:txBody>
      </p:sp>
    </p:spTree>
    <p:extLst>
      <p:ext uri="{BB962C8B-B14F-4D97-AF65-F5344CB8AC3E}">
        <p14:creationId xmlns:p14="http://schemas.microsoft.com/office/powerpoint/2010/main" val="2590747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40F8-47B4-BACA-645A-0109B55D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95672-F4B9-FFC7-47D3-2F17E24AA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Knee osteoarthritis is a very common degenerative joint disease</a:t>
            </a:r>
          </a:p>
          <a:p>
            <a:pPr lvl="1"/>
            <a:r>
              <a:rPr lang="en-US" dirty="0"/>
              <a:t>Pain, swelling, stiffness</a:t>
            </a:r>
          </a:p>
          <a:p>
            <a:r>
              <a:rPr lang="en-US" dirty="0"/>
              <a:t>Affects roughly 23% of adults over 40 worldwide</a:t>
            </a:r>
          </a:p>
          <a:p>
            <a:pPr lvl="1"/>
            <a:r>
              <a:rPr lang="en-US" dirty="0"/>
              <a:t>365 million people</a:t>
            </a:r>
          </a:p>
          <a:p>
            <a:r>
              <a:rPr lang="en-US" dirty="0"/>
              <a:t>Medical Professionals are busy!!!</a:t>
            </a:r>
          </a:p>
          <a:p>
            <a:pPr lvl="1"/>
            <a:r>
              <a:rPr lang="en-US" dirty="0"/>
              <a:t>Too many patients, not enough doctors</a:t>
            </a:r>
          </a:p>
          <a:p>
            <a:pPr lvl="1"/>
            <a:r>
              <a:rPr lang="en-US" dirty="0"/>
              <a:t>Diagnostics done with imaging (radiographs) can be aided easily by AI tools</a:t>
            </a:r>
          </a:p>
          <a:p>
            <a:pPr lvl="2"/>
            <a:r>
              <a:rPr lang="en-US" dirty="0"/>
              <a:t>Save medical professional’s time</a:t>
            </a:r>
          </a:p>
        </p:txBody>
      </p:sp>
    </p:spTree>
    <p:extLst>
      <p:ext uri="{BB962C8B-B14F-4D97-AF65-F5344CB8AC3E}">
        <p14:creationId xmlns:p14="http://schemas.microsoft.com/office/powerpoint/2010/main" val="294626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AEDE-1898-6BAC-81BA-5DE4204F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57F1D-CBF3-2862-FD0E-833262530C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34" y="1690688"/>
            <a:ext cx="11642532" cy="357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12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1650-C867-4266-7BE3-B50BBA17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DC5B0-8963-E593-19DE-C8928D16E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79"/>
            <a:ext cx="10515600" cy="5129296"/>
          </a:xfrm>
        </p:spPr>
        <p:txBody>
          <a:bodyPr>
            <a:normAutofit/>
          </a:bodyPr>
          <a:lstStyle/>
          <a:p>
            <a:r>
              <a:rPr lang="en-US" dirty="0"/>
              <a:t>Ran on CUDA on personal PC</a:t>
            </a:r>
          </a:p>
          <a:p>
            <a:r>
              <a:rPr lang="en-US" dirty="0"/>
              <a:t>Cross Entropy Loss Function</a:t>
            </a:r>
          </a:p>
          <a:p>
            <a:r>
              <a:rPr lang="en-US" dirty="0"/>
              <a:t>Optimized with Adam</a:t>
            </a:r>
          </a:p>
          <a:p>
            <a:r>
              <a:rPr lang="en-US" dirty="0"/>
              <a:t>For both frozen, and finetuning: found best learning rate</a:t>
            </a:r>
          </a:p>
          <a:p>
            <a:pPr lvl="1"/>
            <a:r>
              <a:rPr lang="en-US" dirty="0"/>
              <a:t>15 epochs, from 1e-1 to 1e-7 by steps of 0.1</a:t>
            </a:r>
          </a:p>
          <a:p>
            <a:pPr lvl="1"/>
            <a:r>
              <a:rPr lang="en-US" dirty="0"/>
              <a:t>Used 70% training, 15% validation, 15% evaluation</a:t>
            </a:r>
          </a:p>
          <a:p>
            <a:pPr lvl="1"/>
            <a:r>
              <a:rPr lang="en-US" dirty="0"/>
              <a:t>Found 1e-6 was best for frozen, 1e-5 best for finetuning</a:t>
            </a:r>
          </a:p>
          <a:p>
            <a:pPr lvl="2"/>
            <a:r>
              <a:rPr lang="en-US" dirty="0"/>
              <a:t>Full table on paper, not super important to showcase</a:t>
            </a:r>
          </a:p>
        </p:txBody>
      </p:sp>
    </p:spTree>
    <p:extLst>
      <p:ext uri="{BB962C8B-B14F-4D97-AF65-F5344CB8AC3E}">
        <p14:creationId xmlns:p14="http://schemas.microsoft.com/office/powerpoint/2010/main" val="1468377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8752-98CF-FE63-BC8D-36F16B29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Changes on amount of training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F2F122-2BFD-59B7-72C4-A93164BEC4EF}"/>
              </a:ext>
            </a:extLst>
          </p:cNvPr>
          <p:cNvSpPr/>
          <p:nvPr/>
        </p:nvSpPr>
        <p:spPr>
          <a:xfrm>
            <a:off x="838200" y="1690688"/>
            <a:ext cx="10311063" cy="4437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&lt;table2&gt;</a:t>
            </a:r>
          </a:p>
        </p:txBody>
      </p:sp>
    </p:spTree>
    <p:extLst>
      <p:ext uri="{BB962C8B-B14F-4D97-AF65-F5344CB8AC3E}">
        <p14:creationId xmlns:p14="http://schemas.microsoft.com/office/powerpoint/2010/main" val="429268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23067-D7DA-4869-F4A5-607CE8A9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42E6-B797-DE94-4962-E2AEA991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Frozen DinoV2 vs Finetuning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97169-BAC4-4207-00CD-61A102AA5EAF}"/>
              </a:ext>
            </a:extLst>
          </p:cNvPr>
          <p:cNvSpPr/>
          <p:nvPr/>
        </p:nvSpPr>
        <p:spPr>
          <a:xfrm>
            <a:off x="838200" y="1690688"/>
            <a:ext cx="6878053" cy="1738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Small table</a:t>
            </a:r>
          </a:p>
          <a:p>
            <a:pPr algn="ctr"/>
            <a:r>
              <a:rPr lang="en-US" dirty="0"/>
              <a:t>&lt;best of Frozen&gt;</a:t>
            </a:r>
          </a:p>
          <a:p>
            <a:pPr algn="ctr"/>
            <a:r>
              <a:rPr lang="en-US" dirty="0"/>
              <a:t>&lt;best of finetuning&gt;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2C47D-079E-5A3D-E64B-347C273C0246}"/>
              </a:ext>
            </a:extLst>
          </p:cNvPr>
          <p:cNvSpPr/>
          <p:nvPr/>
        </p:nvSpPr>
        <p:spPr>
          <a:xfrm>
            <a:off x="838200" y="4298156"/>
            <a:ext cx="2346158" cy="1738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Confusion Matrix</a:t>
            </a:r>
          </a:p>
          <a:p>
            <a:pPr algn="ctr"/>
            <a:r>
              <a:rPr lang="en-US" dirty="0"/>
              <a:t>&lt;best of frozen&gt;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DCBE69-1410-AE82-63D2-54725C72575E}"/>
              </a:ext>
            </a:extLst>
          </p:cNvPr>
          <p:cNvSpPr/>
          <p:nvPr/>
        </p:nvSpPr>
        <p:spPr>
          <a:xfrm>
            <a:off x="3402930" y="4298156"/>
            <a:ext cx="2346158" cy="1738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ROC Curve</a:t>
            </a:r>
          </a:p>
          <a:p>
            <a:pPr algn="ctr"/>
            <a:r>
              <a:rPr lang="en-US" dirty="0"/>
              <a:t>&lt;best of frozen&gt;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B41EB-EF63-9BEB-6175-4B8631388830}"/>
              </a:ext>
            </a:extLst>
          </p:cNvPr>
          <p:cNvSpPr/>
          <p:nvPr/>
        </p:nvSpPr>
        <p:spPr>
          <a:xfrm>
            <a:off x="6821903" y="4298156"/>
            <a:ext cx="2346158" cy="1738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Confusion Matrix</a:t>
            </a:r>
          </a:p>
          <a:p>
            <a:pPr algn="ctr"/>
            <a:r>
              <a:rPr lang="en-US" dirty="0"/>
              <a:t>&lt;best of finetuning&gt;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A6A66-DD34-2493-A522-545389E3E5A8}"/>
              </a:ext>
            </a:extLst>
          </p:cNvPr>
          <p:cNvSpPr/>
          <p:nvPr/>
        </p:nvSpPr>
        <p:spPr>
          <a:xfrm>
            <a:off x="9386633" y="4298156"/>
            <a:ext cx="2346158" cy="1738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ROC Curve</a:t>
            </a:r>
          </a:p>
          <a:p>
            <a:pPr algn="ctr"/>
            <a:r>
              <a:rPr lang="en-US" dirty="0"/>
              <a:t>&lt;best of finetuning&gt;</a:t>
            </a:r>
          </a:p>
        </p:txBody>
      </p:sp>
    </p:spTree>
    <p:extLst>
      <p:ext uri="{BB962C8B-B14F-4D97-AF65-F5344CB8AC3E}">
        <p14:creationId xmlns:p14="http://schemas.microsoft.com/office/powerpoint/2010/main" val="235191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AEE6-241C-71A9-02E0-9F442F1F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5D83F-F5EE-C965-1C13-97A22F286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Evaluated likelihood of knee osteoarthritis in radiographs using DinoV2</a:t>
            </a:r>
          </a:p>
          <a:p>
            <a:pPr lvl="1"/>
            <a:r>
              <a:rPr lang="en-US" dirty="0"/>
              <a:t>Captured changes in frozen vs finetuning backbone</a:t>
            </a:r>
          </a:p>
          <a:p>
            <a:pPr lvl="1"/>
            <a:r>
              <a:rPr lang="en-US" dirty="0"/>
              <a:t>Captured how model performance increases with amount of data</a:t>
            </a:r>
          </a:p>
          <a:p>
            <a:pPr lvl="1"/>
            <a:r>
              <a:rPr lang="en-US" dirty="0"/>
              <a:t>Obtained a model with a very high level of performance</a:t>
            </a:r>
          </a:p>
        </p:txBody>
      </p:sp>
    </p:spTree>
    <p:extLst>
      <p:ext uri="{BB962C8B-B14F-4D97-AF65-F5344CB8AC3E}">
        <p14:creationId xmlns:p14="http://schemas.microsoft.com/office/powerpoint/2010/main" val="2542129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6D43-864B-597A-06E7-F4CB27DE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F129D-B2DA-EA8B-0C9F-41CB9EA9F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[1] </a:t>
            </a:r>
            <a:r>
              <a:rPr lang="en-US" sz="2000" dirty="0" err="1"/>
              <a:t>Oquab</a:t>
            </a:r>
            <a:r>
              <a:rPr lang="en-US" sz="2000" dirty="0"/>
              <a:t>, M., </a:t>
            </a:r>
            <a:r>
              <a:rPr lang="en-US" sz="2000" dirty="0" err="1"/>
              <a:t>Darcet</a:t>
            </a:r>
            <a:r>
              <a:rPr lang="en-US" sz="2000" dirty="0"/>
              <a:t>, T., </a:t>
            </a:r>
            <a:r>
              <a:rPr lang="en-US" sz="2000" dirty="0" err="1"/>
              <a:t>Moutakanni</a:t>
            </a:r>
            <a:r>
              <a:rPr lang="en-US" sz="2000" dirty="0"/>
              <a:t>, T., Vo, H., Szafraniec, M., Khalidov, V., Fernandez, P., Haziza, D., Massa, F., El-</a:t>
            </a:r>
            <a:r>
              <a:rPr lang="en-US" sz="2000" dirty="0" err="1"/>
              <a:t>Nouby</a:t>
            </a:r>
            <a:r>
              <a:rPr lang="en-US" sz="2000" dirty="0"/>
              <a:t>, A., </a:t>
            </a:r>
            <a:r>
              <a:rPr lang="en-US" sz="2000" dirty="0" err="1"/>
              <a:t>Assran</a:t>
            </a:r>
            <a:r>
              <a:rPr lang="en-US" sz="2000" dirty="0"/>
              <a:t>, M., Ballas, N., </a:t>
            </a:r>
            <a:r>
              <a:rPr lang="en-US" sz="2000" dirty="0" err="1"/>
              <a:t>Galuba</a:t>
            </a:r>
            <a:r>
              <a:rPr lang="en-US" sz="2000" dirty="0"/>
              <a:t>, W., Howes, R., Huang, P.-Y., Li, S.-W., Misra, I., Rabbat, M., Sharma, V., &amp; </a:t>
            </a:r>
            <a:r>
              <a:rPr lang="en-US" sz="2000" dirty="0" err="1"/>
              <a:t>Synnaeve</a:t>
            </a:r>
            <a:r>
              <a:rPr lang="en-US" sz="2000" dirty="0"/>
              <a:t>, G. (2023, April 14). </a:t>
            </a:r>
            <a:r>
              <a:rPr lang="en-US" sz="2000" i="1" dirty="0"/>
              <a:t>DINOv2: Learning Robust Visual Features without Supervision</a:t>
            </a:r>
            <a:r>
              <a:rPr lang="en-US" sz="2000" dirty="0"/>
              <a:t>. ArXiv.org. https://doi.org/10.48550/arXiv.2304.07193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351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Adaptation of Vision Foundation Models for Knee Osteoarthritis Classification</vt:lpstr>
      <vt:lpstr>Purpose</vt:lpstr>
      <vt:lpstr>Architecture</vt:lpstr>
      <vt:lpstr>Experimental Setup</vt:lpstr>
      <vt:lpstr>Results – Changes on amount of training data</vt:lpstr>
      <vt:lpstr>Results – Frozen DinoV2 vs Finetuning</vt:lpstr>
      <vt:lpstr>Discussion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Belback, Jonah Earl</dc:creator>
  <cp:lastModifiedBy>Belback, Jonah Earl</cp:lastModifiedBy>
  <cp:revision>14</cp:revision>
  <dcterms:created xsi:type="dcterms:W3CDTF">2026-05-01T14:27:43Z</dcterms:created>
  <dcterms:modified xsi:type="dcterms:W3CDTF">2026-05-01T14:52:50Z</dcterms:modified>
</cp:coreProperties>
</file>